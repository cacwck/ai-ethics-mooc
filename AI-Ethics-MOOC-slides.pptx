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資料全部取自 Coursera 課程頁與 UNESCO／Coursera 官方公告，2026-10-24 擷取。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標題、影片數、閱讀數為課程頁原文；重點與詞彙為本網站自製筆記的數量。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影片、閱讀、作業標題與分鐘數逐字取自 Coursera 課程頁（2026-10-24）。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呢啲係本學習台自製教學筆記的章節；完整內容在網站每章「詳細教學」。非 Coursera 逐字稿。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MOOC on the Ethics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UNESCO × LG AI Research｜Coursera 免費課程</a:t>
            </a:r>
          </a:p>
          <a:p>
            <a:r>
              <a:t>學習台整理簡報（2026-10-24）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課程概覽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提供者：UNESCO × LG AI Research｜平台：Coursera</a:t>
            </a:r>
          </a:p>
          <a:p>
            <a:pPr/>
            <a:r>
              <a:rPr sz="1600"/>
              <a:t>程度：Intermediate（建議具備基本 AI 知識）</a:t>
            </a:r>
          </a:p>
          <a:p>
            <a:pPr/>
            <a:r>
              <a:rPr sz="1600"/>
              <a:t>評分：4.8 / 5（160 個評價，2026-10 擷取）</a:t>
            </a:r>
          </a:p>
          <a:p>
            <a:pPr/>
            <a:r>
              <a:rPr sz="1600"/>
              <a:t>推出：2026-07-20（首爾發表）</a:t>
            </a:r>
          </a:p>
          <a:p>
            <a:pPr/>
            <a:r>
              <a:rPr sz="1600"/>
              <a:t>時長：官方 header 1 week at 10 hours a week；官方 blog 9 hours；module 標示相加約 11 小時</a:t>
            </a:r>
          </a:p>
          <a:p>
            <a:pPr/>
            <a:r>
              <a:rPr sz="1600"/>
              <a:t>語言：Taught in English，另提供 12 種語言（課程頁 2026-10-24）</a:t>
            </a:r>
          </a:p>
          <a:p>
            <a:pPr/>
            <a:r>
              <a:rPr sz="1600"/>
              <a:t>評核：2 個 assignment（AI Graded）；Module 10 另有 End-of-Course Graded Quiz</a:t>
            </a:r>
          </a:p>
          <a:p>
            <a:pPr/>
            <a:r>
              <a:rPr sz="1600"/>
              <a:t>費用：課程頁 FAQ 指全部功能免費，完成可獲證書</a:t>
            </a:r>
          </a:p>
          <a:p>
            <a:pPr/>
            <a:r>
              <a:rPr sz="1400">
                <a:solidFill>
                  <a:srgbClr val="1F6F5C"/>
                </a:solidFill>
              </a:rPr>
              <a:t>課程頁：https://www.coursera.org/learn/global-mooc-on-the-ethics-of-ai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02920" y="137160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32261"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標題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時長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影片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閱讀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詞彙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Foundations of AI Ethics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Human-AI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Safety &amp;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Fairness, Non-Discrimination &amp; Inclusion in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Privacy, Data Protection and Data Governance in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Transparency, Explainability and Accountability (TEA)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AI, Environment &amp; Sustainability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Proportionality &amp; Do No Harm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Autonomy, Meaningful Work, and the AI Economy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 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小時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M1 · Foundations of AI Ethics ｜ 倫理基礎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Introduction to the Course（4 分鐘）</a:t>
            </a:r>
          </a:p>
          <a:p>
            <a:pPr lvl="1"/>
            <a:r>
              <a:rPr sz="1400"/>
              <a:t>Video 1: Why does ethics matter in AI?（13 分鐘）</a:t>
            </a:r>
          </a:p>
          <a:p>
            <a:pPr lvl="1"/>
            <a:r>
              <a:rPr sz="1400"/>
              <a:t>Video 2: What do we mean by ethics?（15 分鐘）</a:t>
            </a:r>
          </a:p>
          <a:p>
            <a:pPr lvl="1"/>
            <a:r>
              <a:rPr sz="1400"/>
              <a:t>Video 3: Ethics by Design and Ethics in Use（12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1: Glossary（10 分鐘）</a:t>
            </a:r>
          </a:p>
          <a:p>
            <a:pPr lvl="1"/>
            <a:r>
              <a:rPr sz="1400"/>
              <a:t>Module 1: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M1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分清三件事：倫理（應該點做）、法律（最低可強制要求）、個人偏好。合規唔等於倫理——法律通常滯後於技術。</a:t>
            </a:r>
          </a:p>
          <a:p>
            <a:pPr/>
            <a:r>
              <a:rPr sz="1200"/>
              <a:t>課程用兩條線貫穿整個 AI lifecycle：ethics by design（設計階段就把價值嵌入）同 ethics in use（使用階段持續把關）。兩者缺一都會出事。</a:t>
            </a:r>
          </a:p>
          <a:p>
            <a:pPr/>
            <a:r>
              <a:rPr sz="1200"/>
              <a:t>Lifecycle：design → development → deployment → use。責任隨階段轉移：開發者管資料與模型選擇，部署者管情境設定與監察，使用者管用途邊界。</a:t>
            </a:r>
          </a:p>
          <a:p>
            <a:pPr/>
            <a:r>
              <a:rPr sz="1200"/>
              <a:t>問「呢個系統幫邊個、傷害邊個、有冇人無得反對」比問「有冇違法」更早發現問題。</a:t>
            </a:r>
          </a:p>
          <a:p>
            <a:pPr/>
            <a:r>
              <a:rPr sz="1200"/>
              <a:t>倫理要落地就必須有機制：impact assessment、review gate、logging、申訴渠道。冇機制的倫理語言只係公關。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Ethics by design：在設計與開發階段就把倫理要求寫入規格（資料來源限制、預設設定、可解釋性），而非事後補救。</a:t>
            </a:r>
          </a:p>
          <a:p>
            <a:pPr lvl="1"/>
            <a:r>
              <a:rPr sz="1100"/>
              <a:t>Ethics in use：系統上線後在使用情境中持續把關：適用性、監察、人類覆核、停用與申訴。</a:t>
            </a:r>
          </a:p>
          <a:p>
            <a:pPr lvl="1"/>
            <a:r>
              <a:rPr sz="1100"/>
              <a:t>AI lifecycle：由問題定義、資料收集、模型開發、部署到使用與退役的完整鏈條；責任分配隨階段改變。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M1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呢個 module 係全課的地基：把「倫理」同「法律」「個人偏好」分開，再用 AI lifecycle 同 ethics by design / in use 兩條線，解釋責任應該落在哪一個階段。</a:t>
            </a:r>
          </a:p>
          <a:p>
            <a:pPr lvl="1"/>
            <a:r>
              <a:rPr sz="1400"/>
              <a:t>1.1 倫理、法律、偏好：三條不同的界線</a:t>
            </a:r>
          </a:p>
          <a:p>
            <a:pPr lvl="1"/>
            <a:r>
              <a:rPr sz="1400"/>
              <a:t>1.2 三條倫理進路，實務上怎樣用</a:t>
            </a:r>
          </a:p>
          <a:p>
            <a:pPr lvl="1"/>
            <a:r>
              <a:rPr sz="1400"/>
              <a:t>1.3 AI lifecycle 與責任分配</a:t>
            </a:r>
          </a:p>
          <a:p>
            <a:pPr lvl="1"/>
            <a:r>
              <a:rPr sz="1400"/>
              <a:t>1.4 Ethics by design 與 ethics in use</a:t>
            </a:r>
          </a:p>
          <a:p>
            <a:pPr lvl="1"/>
            <a:r>
              <a:rPr sz="1400"/>
              <a:t>1.5 由原則到機制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· Human-AI Interaction ｜ 人機互動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Human-AI Interaction in Everyday Life: The Amina Health App Case Study（13 分鐘）</a:t>
            </a:r>
          </a:p>
          <a:p>
            <a:pPr lvl="1"/>
            <a:r>
              <a:rPr sz="1400"/>
              <a:t>Video 2: Humanization as a design imperative - design for flourishing（9 分鐘）</a:t>
            </a:r>
          </a:p>
          <a:p>
            <a:pPr lvl="1"/>
            <a:r>
              <a:rPr sz="1400"/>
              <a:t>Video 3: Best Practices &amp; Tools for Ethical Human-AI Interaction（8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2: Glossary（10 分鐘）</a:t>
            </a:r>
          </a:p>
          <a:p>
            <a:pPr lvl="1"/>
            <a:r>
              <a:rPr sz="1400"/>
              <a:t>Module 2: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課程用 Stanford AI Ethics Toolkit 把抽象原則接上真實設計決策：每個設計選擇都係一次價值取捨。</a:t>
            </a:r>
          </a:p>
          <a:p>
            <a:pPr/>
            <a:r>
              <a:rPr sz="1200"/>
              <a:t>「Humanization as a design imperative」講嘅係：設計目標唔應只係效率，而係讓人能夠 flourishing（有能力、有選擇、不被削弱）。</a:t>
            </a:r>
          </a:p>
          <a:p>
            <a:pPr/>
            <a:r>
              <a:rPr sz="1200"/>
              <a:t>Amina Health App 案例係健康類助理：要留意建議嘅準確性邊界、使用者過度信任、以及出事時的責任歸屬。</a:t>
            </a:r>
          </a:p>
          <a:p>
            <a:pPr/>
            <a:r>
              <a:rPr sz="1200"/>
              <a:t>實務檢查清單：預設值是否保守、是否有退出／關閉機制、錯誤時如何告知、使用者能否理解系統在做什麼。</a:t>
            </a:r>
          </a:p>
          <a:p>
            <a:pPr/>
            <a:r>
              <a:rPr sz="1200"/>
              <a:t>Automation bias（自動化偏見）係核心風險：人會傾向相信系統輸出，尤其在高工時、高壓力情境下，人類覆核形同虛設。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Stanford AI Ethics Toolkit：把倫理原則轉為設計問題與檢查項的工具集，課程用來連接原則與實務決策。</a:t>
            </a:r>
          </a:p>
          <a:p>
            <a:pPr lvl="1"/>
            <a:r>
              <a:rPr sz="1100"/>
              <a:t>Humanization：以人的能力、尊嚴與長期福祉為設計目標，而非只優化效率或互動量。</a:t>
            </a:r>
          </a:p>
          <a:p>
            <a:pPr lvl="1"/>
            <a:r>
              <a:rPr sz="1100"/>
              <a:t>Automation bias：人傾向過度信任自動化輸出，減少自身判斷與質疑。</a:t>
            </a:r>
          </a:p>
          <a:p>
            <a:pPr lvl="1"/>
            <a:r>
              <a:rPr sz="1100"/>
              <a:t>Human-in-the-loop：在決策流程中保留人類審核；有效性取決於時間、資訊與否決權。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呢個 module 講人機互動：設計選擇就係價值選擇，而「有人類在迴路」經常只是形式。</a:t>
            </a:r>
          </a:p>
          <a:p>
            <a:pPr lvl="1"/>
            <a:r>
              <a:rPr sz="1400"/>
              <a:t>2.1 互動設計就係價值設計</a:t>
            </a:r>
          </a:p>
          <a:p>
            <a:pPr lvl="1"/>
            <a:r>
              <a:rPr sz="1400"/>
              <a:t>2.2 Amina Health App：健康助理的風險結構</a:t>
            </a:r>
          </a:p>
          <a:p>
            <a:pPr lvl="1"/>
            <a:r>
              <a:rPr sz="1400"/>
              <a:t>2.3 Humanization：以 flourishing 為目標</a:t>
            </a:r>
          </a:p>
          <a:p>
            <a:pPr lvl="1"/>
            <a:r>
              <a:rPr sz="1400"/>
              <a:t>2.4 Automation bias 與 human-in-the-loop 的失效</a:t>
            </a:r>
          </a:p>
          <a:p>
            <a:pPr lvl="1"/>
            <a:r>
              <a:rPr sz="1400"/>
              <a:t>2.5 設計評審檢查清單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M3 · Safety &amp; Security ｜ 安全與保安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Safety &amp; Security in AI &amp; Everyday Dimensions（13 分鐘）</a:t>
            </a:r>
          </a:p>
          <a:p>
            <a:pPr lvl="1"/>
            <a:r>
              <a:rPr sz="1400"/>
              <a:t>Video 2: Case Study: The Uber Autonomous Vehicle Fatality（19 分鐘）</a:t>
            </a:r>
          </a:p>
          <a:p>
            <a:pPr lvl="1"/>
            <a:r>
              <a:rPr sz="1400"/>
              <a:t>Video 3: Testing &amp; Evaluation Frameworks for AI Safety and Security（16 分鐘）</a:t>
            </a:r>
          </a:p>
          <a:p>
            <a:pPr lvl="1"/>
            <a:r>
              <a:rPr sz="1400"/>
              <a:t>Video 4: Best Practices and Tools for Operationalising Safety &amp; Security in AI（15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3: Glossary（10 分鐘）</a:t>
            </a:r>
          </a:p>
          <a:p>
            <a:pPr lvl="1"/>
            <a:r>
              <a:rPr sz="1400"/>
              <a:t>Module 3: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M3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Safety（非惡意失誤、系統失效）同 Security（惡意攻擊、濫用）係兩條不同的風險線，測試方法同負責團隊都唔同。</a:t>
            </a:r>
          </a:p>
          <a:p>
            <a:pPr/>
            <a:r>
              <a:rPr sz="1200"/>
              <a:t>風險為本測試：按傷害嚴重度與發生機率排序，而唔係追求「全部測一次」。</a:t>
            </a:r>
          </a:p>
          <a:p>
            <a:pPr/>
            <a:r>
              <a:rPr sz="1200"/>
              <a:t>背景（公開調查記錄）：2018-03-18 美國 Tempe，Uber 測試中的自駕車撞死行人 Elaine Herzberg；NTSB 2019 年報告指可能成因包括安全員分心、Uber 安全文化與風險評估不足，以及系統未正確識別該行人。課程具體分析角度以影片為準。</a:t>
            </a:r>
          </a:p>
          <a:p>
            <a:pPr/>
            <a:r>
              <a:rPr sz="1200"/>
              <a:t>測試與評估框架要覆蓋：edge case、分布外輸入、感測器退化、對抗性輸入、以及人機交接（handover）時間。</a:t>
            </a:r>
          </a:p>
          <a:p>
            <a:pPr/>
            <a:r>
              <a:rPr sz="1200"/>
              <a:t>落地做法：安全案例（safety case）、獨立評估、上線閘門、事故通報與回滾機制。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Safety vs Security：Safety＝非故意失效造成的傷害；Security＝故意攻擊或濫用造成的傷害。</a:t>
            </a:r>
          </a:p>
          <a:p>
            <a:pPr lvl="1"/>
            <a:r>
              <a:rPr sz="1100"/>
              <a:t>Risk-based testing：按傷害嚴重度與機率分配測試資源，而非平均覆蓋。</a:t>
            </a:r>
          </a:p>
          <a:p>
            <a:pPr lvl="1"/>
            <a:r>
              <a:rPr sz="1100"/>
              <a:t>ODD（操作設計範圍）：系統被設計為可安全運作的情境邊界（天氣、道路、時段等）。</a:t>
            </a:r>
          </a:p>
          <a:p>
            <a:pPr lvl="1"/>
            <a:r>
              <a:rPr sz="1100"/>
              <a:t>Handover：自動作業轉交人類接管的過程；時間不足是最常見的失效點。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M3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Safety 係非惡意失誤造成的傷害，Security 係惡意攻擊或濫用造成的傷害。兩條線的測試方法、負責團隊、上線條件都不同。</a:t>
            </a:r>
          </a:p>
          <a:p>
            <a:pPr lvl="1"/>
            <a:r>
              <a:rPr sz="1400"/>
              <a:t>3.1 Safety 與 Security 的分工</a:t>
            </a:r>
          </a:p>
          <a:p>
            <a:pPr lvl="1"/>
            <a:r>
              <a:rPr sz="1400"/>
              <a:t>3.2 背景：2018 年 Uber 自駕車致命事故</a:t>
            </a:r>
          </a:p>
          <a:p>
            <a:pPr lvl="1"/>
            <a:r>
              <a:rPr sz="1400"/>
              <a:t>3.3 測試與評估框架</a:t>
            </a:r>
          </a:p>
          <a:p>
            <a:pPr lvl="1"/>
            <a:r>
              <a:rPr sz="1400"/>
              <a:t>3.4 上線閘門與安全案例</a:t>
            </a:r>
          </a:p>
          <a:p>
            <a:pPr lvl="1"/>
            <a:r>
              <a:rPr sz="1400"/>
              <a:t>3.5 事故通報與回滾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M4 · Fairness, Non-Discrimination &amp; Inclusion in AI ｜ 公平、反歧視與共融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Fairness, Non-Discrimination and Inclusion in Everyday AI Use（18 分鐘）</a:t>
            </a:r>
          </a:p>
          <a:p>
            <a:pPr lvl="1"/>
            <a:r>
              <a:rPr sz="1400"/>
              <a:t>Video 2: Case Study: Fairness in Child Welfare Screening AI（14 分鐘）</a:t>
            </a:r>
          </a:p>
          <a:p>
            <a:pPr lvl="1"/>
            <a:r>
              <a:rPr sz="1400"/>
              <a:t>Video 3: Checking AI Outcomes by Demographic Group（14 分鐘）</a:t>
            </a:r>
          </a:p>
          <a:p>
            <a:pPr lvl="1"/>
            <a:r>
              <a:rPr sz="1400"/>
              <a:t>Video 4: Best Practices &amp; Tools for Operationalising Fairness, Non-Discrimination &amp; Inclusion in AI（11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4: Glossary（10 分鐘）</a:t>
            </a:r>
          </a:p>
          <a:p>
            <a:pPr lvl="1"/>
            <a:r>
              <a:rPr sz="1400"/>
              <a:t>Module 4: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M4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公平唔止一個定義：人口比例均等（demographic parity）、機會均等、錯誤率均等……彼此在數學上可能互相衝突，要先講清楚用邊個標準、為邊個群體。</a:t>
            </a:r>
          </a:p>
          <a:p>
            <a:pPr/>
            <a:r>
              <a:rPr sz="1200"/>
              <a:t>第一步永遠係界定受影響群體同傷害類型，而唔係先揀指標。</a:t>
            </a:r>
          </a:p>
          <a:p>
            <a:pPr/>
            <a:r>
              <a:rPr sz="1200"/>
              <a:t>Child welfare screening 案例的核心張力：預測「風險」會把歷史偏見（例如社福介入本身就集中於某些社區）編碼成特徵。</a:t>
            </a:r>
          </a:p>
          <a:p>
            <a:pPr/>
            <a:r>
              <a:rPr sz="1200"/>
              <a:t>按人口群組檢查結果（Video 3）要同時看：選中率、假陽性、假陰性、以及錯誤的代價是否對等。</a:t>
            </a:r>
          </a:p>
          <a:p>
            <a:pPr/>
            <a:r>
              <a:rPr sz="1200"/>
              <a:t>共融（inclusion）唔止是被準確分類，還包括能否使用、能否申訴、能否退出。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Demographic parity：各群組被選中（正分類）的比例相等。</a:t>
            </a:r>
          </a:p>
          <a:p>
            <a:pPr lvl="1"/>
            <a:r>
              <a:rPr sz="1100"/>
              <a:t>Equal opportunity：各群組中真正符合條件者的被選中率相等（真陽性率相等）。</a:t>
            </a:r>
          </a:p>
          <a:p>
            <a:pPr lvl="1"/>
            <a:r>
              <a:rPr sz="1100"/>
              <a:t>Proxy variable：與受保護特徵高度相關的替代變數，可間接引入歧視。</a:t>
            </a:r>
          </a:p>
          <a:p>
            <a:pPr lvl="1"/>
            <a:r>
              <a:rPr sz="1100"/>
              <a:t>Disparate impact：表面上中立的規則，實際對某群體造成不成比例的負面效果。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M4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公平冇單一定義，而且幾個常見定義在數學上會互相衝突。所以第一步永遠係界定受影響群體同傷害類型，而唔係先揀指標。</a:t>
            </a:r>
          </a:p>
          <a:p>
            <a:pPr lvl="1"/>
            <a:r>
              <a:rPr sz="1400"/>
              <a:t>4.1 公平的多重定義</a:t>
            </a:r>
          </a:p>
          <a:p>
            <a:pPr lvl="1"/>
            <a:r>
              <a:rPr sz="1400"/>
              <a:t>4.2 數學衝突：為什麼不能全部滿足</a:t>
            </a:r>
          </a:p>
          <a:p>
            <a:pPr lvl="1"/>
            <a:r>
              <a:rPr sz="1400"/>
              <a:t>4.3 群體界定與代理變數</a:t>
            </a:r>
          </a:p>
          <a:p>
            <a:pPr lvl="1"/>
            <a:r>
              <a:rPr sz="1400"/>
              <a:t>4.4 背景：兒童福利篩查</a:t>
            </a:r>
          </a:p>
          <a:p>
            <a:pPr lvl="1"/>
            <a:r>
              <a:rPr sz="1400"/>
              <a:t>4.5 量度方法與可驗收要求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M5 · Privacy, Data Protection and Data Governance in AI ｜ 私隱、資料保護與資料治理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時長：2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Privacy, Data Protection and Data Governance in Everyday AI Use（12 分鐘）</a:t>
            </a:r>
          </a:p>
          <a:p>
            <a:pPr lvl="1"/>
            <a:r>
              <a:rPr sz="1400"/>
              <a:t>Video 2: Case Study: Italy's 2023 ChatGPT Ban（14 分鐘）</a:t>
            </a:r>
          </a:p>
          <a:p>
            <a:pPr lvl="1"/>
            <a:r>
              <a:rPr sz="1400"/>
              <a:t>Video 3: Data Minimization: Limiting What AI Systems Collect and Retain（13 分鐘）</a:t>
            </a:r>
          </a:p>
          <a:p>
            <a:pPr lvl="1"/>
            <a:r>
              <a:rPr sz="1400"/>
              <a:t>Video 4: Best Practices &amp; Tools for Operationalising Privacy, Data Protection and Data Governance in AI（16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5: Glossary（10 分鐘）</a:t>
            </a:r>
          </a:p>
          <a:p>
            <a:pPr lvl="1"/>
            <a:r>
              <a:rPr sz="1400"/>
              <a:t>Module 5: Reading Materials（10 分鐘）</a:t>
            </a:r>
          </a:p>
          <a:p>
            <a:pPr/>
            <a:r>
              <a:rPr sz="1500" b="1"/>
              <a:t>作業：End-of-Module Exercise: Responsible data practices（30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M5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三個層次要分開：privacy（個人權利與期望）、data protection（法律義務，例如 GDPR）、data governance（組織內的決策權與流程）。</a:t>
            </a:r>
          </a:p>
          <a:p>
            <a:pPr/>
            <a:r>
              <a:rPr sz="1200"/>
              <a:t>背景（公開記錄）：2023 年 3 月意大利 Garante 曾對 ChatGPT 採取臨時限制措施，理由涉及個人資料處理的法律基礎、資料外洩通知與年齡驗證等問題；同年 4 月解除並附帶要求。課程具體分析角度以影片為準。</a:t>
            </a:r>
          </a:p>
          <a:p>
            <a:pPr/>
            <a:r>
              <a:rPr sz="1200"/>
              <a:t>Data minimisation：只收集必要資料、只保留必要時間。對 LLM 尤其關鍵——訓練資料一旦吸收，刪除幾乎不可能。</a:t>
            </a:r>
          </a:p>
          <a:p>
            <a:pPr/>
            <a:r>
              <a:rPr sz="1200"/>
              <a:t>要問：法律基礎是什麼？保留期多長？有無再識別風險？模型記憶（memorisation）如何測試？</a:t>
            </a:r>
          </a:p>
          <a:p>
            <a:pPr/>
            <a:r>
              <a:rPr sz="1200"/>
              <a:t>治理落地：資料分級、存取控制、處理記錄（ROPA）、DPIA、供應商條款、以及刪除請求的技術可行性。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Data minimisation：只收集與目的相符的必要資料，並限制保留期。</a:t>
            </a:r>
          </a:p>
          <a:p>
            <a:pPr lvl="1"/>
            <a:r>
              <a:rPr sz="1100"/>
              <a:t>Purpose limitation：資料只可用於收集時明示的目的。</a:t>
            </a:r>
          </a:p>
          <a:p>
            <a:pPr lvl="1"/>
            <a:r>
              <a:rPr sz="1100"/>
              <a:t>DPIA：資料保護影響評估：高風險處理前的強制性風險評估。</a:t>
            </a:r>
          </a:p>
          <a:p>
            <a:pPr lvl="1"/>
            <a:r>
              <a:rPr sz="1100"/>
              <a:t>Memorisation：模型記住並可重現訓練資料片段的现象，屬私隱風險。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M5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私隱（個人權利與期望）、資料保護（法律義務）、資料治理（組織決策權與流程）係三層唔同嘅事，唔可以互相代替。</a:t>
            </a:r>
          </a:p>
          <a:p>
            <a:pPr lvl="1"/>
            <a:r>
              <a:rPr sz="1400"/>
              <a:t>5.1 三個層次</a:t>
            </a:r>
          </a:p>
          <a:p>
            <a:pPr lvl="1"/>
            <a:r>
              <a:rPr sz="1400"/>
              <a:t>5.2 法律基礎與目的限制</a:t>
            </a:r>
          </a:p>
          <a:p>
            <a:pPr lvl="1"/>
            <a:r>
              <a:rPr sz="1400"/>
              <a:t>5.3 資料最小化的工程做法</a:t>
            </a:r>
          </a:p>
          <a:p>
            <a:pPr lvl="1"/>
            <a:r>
              <a:rPr sz="1400"/>
              <a:t>5.4 LLM 的記憶與刪除難題</a:t>
            </a:r>
          </a:p>
          <a:p>
            <a:pPr lvl="1"/>
            <a:r>
              <a:rPr sz="1400"/>
              <a:t>5.5 背景：意大利監管機構與 ChatGPT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M6 · Transparency, Explainability and Accountability (TEA) ｜ 透明、可解釋與問責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Transparency, Explainability and Accountability in AI（12 分鐘）</a:t>
            </a:r>
          </a:p>
          <a:p>
            <a:pPr lvl="1"/>
            <a:r>
              <a:rPr sz="1400"/>
              <a:t>Video 2: Case Study: AI-Assisted Loan Decisions（8 分鐘）</a:t>
            </a:r>
          </a:p>
          <a:p>
            <a:pPr lvl="1"/>
            <a:r>
              <a:rPr sz="1400"/>
              <a:t>Video 3: Explainability and the Black Box Problem（10 分鐘）</a:t>
            </a:r>
          </a:p>
          <a:p>
            <a:pPr lvl="1"/>
            <a:r>
              <a:rPr sz="1400"/>
              <a:t>Video 4: Best Practices &amp; Tools for Operationalising Transparency, Explainability and Accountability（12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6: Glossary（10 分鐘）</a:t>
            </a:r>
          </a:p>
          <a:p>
            <a:pPr lvl="1"/>
            <a:r>
              <a:rPr sz="1400"/>
              <a:t>Module 6: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M6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TEA 係三件相扣的事：透明（講明系統存在與如何運作）、可解釋（對受影響者給出可理解的依據）、問責（有人要負責、有救濟途徑）。</a:t>
            </a:r>
          </a:p>
          <a:p>
            <a:pPr/>
            <a:r>
              <a:rPr sz="1200"/>
              <a:t>有透明但無問責＝只係公告；有問責但無可解釋＝無法申訴。</a:t>
            </a:r>
          </a:p>
          <a:p>
            <a:pPr/>
            <a:r>
              <a:rPr sz="1200"/>
              <a:t>解釋要按受眾分層：開發者（特徵重要性、模型限制）、監管者（文件、測試、審計）、受影響者（拒絕理由、如何改變、如何上訴）。</a:t>
            </a:r>
          </a:p>
          <a:p>
            <a:pPr/>
            <a:r>
              <a:rPr sz="1200"/>
              <a:t>背景：貸款決策係典型高風險場景，多個司法管轄區要求對拒絕提供具體理由（adverse action notice）。</a:t>
            </a:r>
          </a:p>
          <a:p>
            <a:pPr/>
            <a:r>
              <a:rPr sz="1200"/>
              <a:t>黑箱問題的實務折衷：不一定需要全局可解釋，但必須有局部解釋、模型文件（model card）、以及人類覆核路徑。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Transparency：公開系統的存在、用途、資料來源與限制。</a:t>
            </a:r>
          </a:p>
          <a:p>
            <a:pPr lvl="1"/>
            <a:r>
              <a:rPr sz="1100"/>
              <a:t>Explainability：能對特定決策給出可理解的依據，並按受眾調整深度。</a:t>
            </a:r>
          </a:p>
          <a:p>
            <a:pPr lvl="1"/>
            <a:r>
              <a:rPr sz="1100"/>
              <a:t>Accountability：明確負責主體、可追溯記錄與有效救濟。</a:t>
            </a:r>
          </a:p>
          <a:p>
            <a:pPr lvl="1"/>
            <a:r>
              <a:rPr sz="1100"/>
              <a:t>Model card：標準化模型說明文件：用途、訓練資料、評估結果、限制。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M6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透明、可解釋、問責係三件相扣的事：有透明無問責只係公告；有問責無可解釋就無法申訴。</a:t>
            </a:r>
          </a:p>
          <a:p>
            <a:pPr lvl="1"/>
            <a:r>
              <a:rPr sz="1400"/>
              <a:t>6.1 三者關係</a:t>
            </a:r>
          </a:p>
          <a:p>
            <a:pPr lvl="1"/>
            <a:r>
              <a:rPr sz="1400"/>
              <a:t>6.2 解釋要按受眾分層</a:t>
            </a:r>
          </a:p>
          <a:p>
            <a:pPr lvl="1"/>
            <a:r>
              <a:rPr sz="1400"/>
              <a:t>6.3 黑箱與局部解釋的局限</a:t>
            </a:r>
          </a:p>
          <a:p>
            <a:pPr lvl="1"/>
            <a:r>
              <a:rPr sz="1400"/>
              <a:t>6.4 問責機制的必要元素</a:t>
            </a:r>
          </a:p>
          <a:p>
            <a:pPr lvl="1"/>
            <a:r>
              <a:rPr sz="1400"/>
              <a:t>6.5 背景：貸款決策與拒絕理由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M7 · AI, Environment &amp; Sustainability ｜ AI、環境與可持續性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AI's Environmental and Sustainability Impact in Everyday Life（14 分鐘）</a:t>
            </a:r>
          </a:p>
          <a:p>
            <a:pPr lvl="1"/>
            <a:r>
              <a:rPr sz="1400"/>
              <a:t>Video 2: Case Study: Building a Large AI Data Centre（12 分鐘）</a:t>
            </a:r>
          </a:p>
          <a:p>
            <a:pPr lvl="1"/>
            <a:r>
              <a:rPr sz="1400"/>
              <a:t>Video 3: Materiality &amp; Impact Hotspots in AI's Environmental Footprint（9 分鐘）</a:t>
            </a:r>
          </a:p>
          <a:p>
            <a:pPr lvl="1"/>
            <a:r>
              <a:rPr sz="1400"/>
              <a:t>Video 4: Best Practices &amp; Tools for Operationalising AI Sustainability（10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7: Glossary（10 分鐘）</a:t>
            </a:r>
          </a:p>
          <a:p>
            <a:pPr lvl="1"/>
            <a:r>
              <a:rPr sz="1400"/>
              <a:t>Module 7: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M7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環境影響貫穿整個 lifecycle：礦物開採與硬件製造（embodied carbon）、訓練用電、推理用電、冷卻用水、以及報廢處理。</a:t>
            </a:r>
          </a:p>
          <a:p>
            <a:pPr/>
            <a:r>
              <a:rPr sz="1200"/>
              <a:t>推理（inference）往往是總能耗的主體，因為它每天持續發生；只看訓練成本會低估影響。</a:t>
            </a:r>
          </a:p>
          <a:p>
            <a:pPr/>
            <a:r>
              <a:rPr sz="1200"/>
              <a:t>Materiality（重大性）決定你應該量度什麼：對業務與環境都重要的項目才值得納入報告，避免堆砌無關數字。</a:t>
            </a:r>
          </a:p>
          <a:p>
            <a:pPr/>
            <a:r>
              <a:rPr sz="1200"/>
              <a:t>Impact hotspots：用電碳強度（電網組合）、冷卻方式與地點水壓力、以及硬件更換週期。</a:t>
            </a:r>
          </a:p>
          <a:p>
            <a:pPr/>
            <a:r>
              <a:rPr sz="1200"/>
              <a:t>落地做法：選擇低碳區域與時段、提高利用率（batch、蒸餾、量化）、量度與披露、把碳成本納入模型選擇。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Embodied carbon：硬件製造與運輸過程中的碳排放，與用電無關。</a:t>
            </a:r>
          </a:p>
          <a:p>
            <a:pPr lvl="1"/>
            <a:r>
              <a:rPr sz="1100"/>
              <a:t>Inference：模型上線後每次回應所消耗的算力與能源。</a:t>
            </a:r>
          </a:p>
          <a:p>
            <a:pPr lvl="1"/>
            <a:r>
              <a:rPr sz="1100"/>
              <a:t>Materiality：對環境與業務同時具重大性的影響項目，用於決定量度與披露範圍。</a:t>
            </a:r>
          </a:p>
          <a:p>
            <a:pPr lvl="1"/>
            <a:r>
              <a:rPr sz="1100"/>
              <a:t>PUE：數據中心總用電除以 IT 設備用電，衡量冷卻與配電效率。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M7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環境影響貫穿整個 lifecycle，而推理（inference）往往係總能耗主體——只計訓練會嚴重低估。</a:t>
            </a:r>
          </a:p>
          <a:p>
            <a:pPr lvl="1"/>
            <a:r>
              <a:rPr sz="1400"/>
              <a:t>7.1 lifecycle 的碳足跡</a:t>
            </a:r>
          </a:p>
          <a:p>
            <a:pPr lvl="1"/>
            <a:r>
              <a:rPr sz="1400"/>
              <a:t>7.2 為什麼推理是主體</a:t>
            </a:r>
          </a:p>
          <a:p>
            <a:pPr lvl="1"/>
            <a:r>
              <a:rPr sz="1400"/>
              <a:t>7.3 重大性（materiality）與影響熱點</a:t>
            </a:r>
          </a:p>
          <a:p>
            <a:pPr lvl="1"/>
            <a:r>
              <a:rPr sz="1400"/>
              <a:t>7.4 量度方法</a:t>
            </a:r>
          </a:p>
          <a:p>
            <a:pPr lvl="1"/>
            <a:r>
              <a:rPr sz="1400"/>
              <a:t>7.5 減碳手段與副作用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M8 · Proportionality &amp; Do No Harm ｜ 比例原則與不傷害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Proportionality and Do No Harm in Everyday AI Use（9 分鐘）</a:t>
            </a:r>
          </a:p>
          <a:p>
            <a:pPr lvl="1"/>
            <a:r>
              <a:rPr sz="1400"/>
              <a:t>Video 2: Case Study: Facial Recognition in UK Schools（9 分鐘）</a:t>
            </a:r>
          </a:p>
          <a:p>
            <a:pPr lvl="1"/>
            <a:r>
              <a:rPr sz="1400"/>
              <a:t>Video 3: Ex-Ante Context-Based Risk Analysis (COBRA)（9 分鐘）</a:t>
            </a:r>
          </a:p>
          <a:p>
            <a:pPr lvl="1"/>
            <a:r>
              <a:rPr sz="1400"/>
              <a:t>Video 4: Best Practices &amp; Tools for Operationalising Proportionality and Do No Harm in AI（11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8: Glossary（10 分鐘）</a:t>
            </a:r>
          </a:p>
          <a:p>
            <a:pPr lvl="1"/>
            <a:r>
              <a:rPr sz="1400"/>
              <a:t>Module 8: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M8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比例原則三問：目的正當嗎？手段能達成目的嗎（必要性）？代價與收益相稱嗎（狹義比例）？</a:t>
            </a:r>
          </a:p>
          <a:p>
            <a:pPr/>
            <a:r>
              <a:rPr sz="1200"/>
              <a:t>風險為本治理：風險越高，要求的證據、監察與人類覆核越嚴；低風險不應被同等對待，否則資源錯配。</a:t>
            </a:r>
          </a:p>
          <a:p>
            <a:pPr/>
            <a:r>
              <a:rPr sz="1200"/>
              <a:t>背景：英國校園使用臉部辨識（例如學生付款／考勤）曾引起監管機構與家長關注，爭議集中於未成年人、同意是否真實自由、以及是否有較少侵入性的替代方案。課程具體結論以影片為準。</a:t>
            </a:r>
          </a:p>
          <a:p>
            <a:pPr/>
            <a:r>
              <a:rPr sz="1200"/>
              <a:t>COBRA = Ex-Ante Context-Based Risk Analysis：在部署前按具體情境做風險分析，而唔係套用通用風險等級。</a:t>
            </a:r>
          </a:p>
          <a:p>
            <a:pPr/>
            <a:r>
              <a:rPr sz="1200"/>
              <a:t>Do no harm 在實務上要寫成可驗收條件：可接受的誤差上限、必須存在的替代方案、以及一旦超標即停用的門檻。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Proportionality：手段與目的相稱：正當目的、必要性、代價與收益平衡。</a:t>
            </a:r>
          </a:p>
          <a:p>
            <a:pPr lvl="1"/>
            <a:r>
              <a:rPr sz="1100"/>
              <a:t>Risk-based governance：按風險高低調節要求強度（評估、監察、覆核、文件）。</a:t>
            </a:r>
          </a:p>
          <a:p>
            <a:pPr lvl="1"/>
            <a:r>
              <a:rPr sz="1100"/>
              <a:t>COBRA：Ex-Ante Context-Based Risk Analysis：部署前按情境做風險分析的方法，課程 M8 介紹。</a:t>
            </a:r>
          </a:p>
          <a:p>
            <a:pPr lvl="1"/>
            <a:r>
              <a:rPr sz="1100"/>
              <a:t>Less intrusive alternative：能達成同一目的但對權利影響較小的替代方案。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M8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比例原則三問：目的正當嗎？手段能達成目的嗎（必要性）？代價與收益相稱嗎（狹義比例）？</a:t>
            </a:r>
          </a:p>
          <a:p>
            <a:pPr lvl="1"/>
            <a:r>
              <a:rPr sz="1400"/>
              <a:t>8.1 三問如何操作</a:t>
            </a:r>
          </a:p>
          <a:p>
            <a:pPr lvl="1"/>
            <a:r>
              <a:rPr sz="1400"/>
              <a:t>8.2 風險為本治理</a:t>
            </a:r>
          </a:p>
          <a:p>
            <a:pPr lvl="1"/>
            <a:r>
              <a:rPr sz="1400"/>
              <a:t>8.3 背景：英國校園的人臉辨識</a:t>
            </a:r>
          </a:p>
          <a:p>
            <a:pPr lvl="1"/>
            <a:r>
              <a:rPr sz="1400"/>
              <a:t>8.4 COBRA：事前情境風險分析</a:t>
            </a:r>
          </a:p>
          <a:p>
            <a:pPr lvl="1"/>
            <a:r>
              <a:rPr sz="1400"/>
              <a:t>8.5 寫成可驗收門檻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M9 · Human Autonomy, Meaningful Work, and the AI Economy ｜ 人類自主、有意義工作與 AI 經濟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Human Autonomy in the AI Economy（10 分鐘）</a:t>
            </a:r>
          </a:p>
          <a:p>
            <a:pPr lvl="1"/>
            <a:r>
              <a:rPr sz="1400"/>
              <a:t>Video 2: Case Study: The MiDAS Unemployment Fraud Detection System（17 分鐘）</a:t>
            </a:r>
          </a:p>
          <a:p>
            <a:pPr lvl="1"/>
            <a:r>
              <a:rPr sz="1400"/>
              <a:t>Video 3: Meaningful Work in the AI Economy（18 分鐘）</a:t>
            </a:r>
          </a:p>
          <a:p>
            <a:pPr lvl="1"/>
            <a:r>
              <a:rPr sz="1400"/>
              <a:t>Video 4: Best Practices &amp; Tools - Operationalising Human Autonomy and Meaningful Work（13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9: Glossary（10 分鐘）</a:t>
            </a:r>
          </a:p>
          <a:p>
            <a:pPr lvl="1"/>
            <a:r>
              <a:rPr sz="1400"/>
              <a:t>Module 9: Reading Materials（10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M9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人類自主（autonomy）唔止係「有人最後簽名」，而係當事人有實際資訊、時間與能力去反對。</a:t>
            </a:r>
          </a:p>
          <a:p>
            <a:pPr/>
            <a:r>
              <a:rPr sz="1200"/>
              <a:t>背景：美國密歇根州 MiDAS 失業救濟詐騙偵測系統（2013 起）大規模誤判，大量市民被指詐騙並被追討款項，後來要退款並於 2017 年達成和解。核心問題係自動化判定＋極低人工覆核＋举证責任反轉。</a:t>
            </a:r>
          </a:p>
          <a:p>
            <a:pPr/>
            <a:r>
              <a:rPr sz="1200"/>
              <a:t>「有意義工作」的判準：技能能否累積、有無判斷空間、是否被降格為餵數據的環節。</a:t>
            </a:r>
          </a:p>
          <a:p>
            <a:pPr/>
            <a:r>
              <a:rPr sz="1200"/>
              <a:t>AI 導入工作的三種失敗模式：去技能化（deskilling）、監控過度、以及把行政負擔轉嫁給最弱勢的服務對象。</a:t>
            </a:r>
          </a:p>
          <a:p>
            <a:pPr/>
            <a:r>
              <a:rPr sz="1200"/>
              <a:t>落地做法：人類覆核要有資源、錯誤要有快速更正通道、受影響者有權得知並申訴、以及定期檢查自動化決定的上訴成功率。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Human autonomy：當事人能在掌握資訊與資源下作出實質選擇，並可否決自動化決定。</a:t>
            </a:r>
          </a:p>
          <a:p>
            <a:pPr lvl="1"/>
            <a:r>
              <a:rPr sz="1100"/>
              <a:t>Deskilling：工作被拆解為低判斷、低技能的环节，員工能力無法累積。</a:t>
            </a:r>
          </a:p>
          <a:p>
            <a:pPr lvl="1"/>
            <a:r>
              <a:rPr sz="1100"/>
              <a:t>Meaningful work：具備判斷空間、技能成長與目的感的工作安排。</a:t>
            </a:r>
          </a:p>
          <a:p>
            <a:pPr lvl="1"/>
            <a:r>
              <a:rPr sz="1100"/>
              <a:t>Burden shifting：把舉證或行政負擔轉移到受影響者身上（常见於自動化福利審查）。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M9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自主（autonomy）唔止係「有人最後簽名」，而係當事人有實際資訊、時間與能力去反對。</a:t>
            </a:r>
          </a:p>
          <a:p>
            <a:pPr lvl="1"/>
            <a:r>
              <a:rPr sz="1400"/>
              <a:t>9.1 自主的實質條件</a:t>
            </a:r>
          </a:p>
          <a:p>
            <a:pPr lvl="1"/>
            <a:r>
              <a:rPr sz="1400"/>
              <a:t>9.2 背景：密歇根州 MiDAS</a:t>
            </a:r>
          </a:p>
          <a:p>
            <a:pPr lvl="1"/>
            <a:r>
              <a:rPr sz="1400"/>
              <a:t>9.3 有意義工作的判準</a:t>
            </a:r>
          </a:p>
          <a:p>
            <a:pPr lvl="1"/>
            <a:r>
              <a:rPr sz="1400"/>
              <a:t>9.4 三種失敗模式</a:t>
            </a:r>
          </a:p>
          <a:p>
            <a:pPr lvl="1"/>
            <a:r>
              <a:rPr sz="1400"/>
              <a:t>9.5 制度設計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M10 · Global AI Governance ｜ 全球 AI 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1F6F5C"/>
                </a:solidFill>
              </a:rPr>
              <a:t>時長：1 小時</a:t>
            </a:r>
          </a:p>
          <a:p>
            <a:pPr/>
            <a:r>
              <a:rPr sz="1600" b="1"/>
              <a:t>影片</a:t>
            </a:r>
          </a:p>
          <a:p>
            <a:pPr lvl="1"/>
            <a:r>
              <a:rPr sz="1400"/>
              <a:t>Video 1: Introducing Global AI Governance（11 分鐘）</a:t>
            </a:r>
          </a:p>
          <a:p>
            <a:pPr lvl="1"/>
            <a:r>
              <a:rPr sz="1400"/>
              <a:t>Video 2: Case Study: Expanding a GenAI Assistant Across Markets（11 分鐘）</a:t>
            </a:r>
          </a:p>
          <a:p>
            <a:pPr lvl="1"/>
            <a:r>
              <a:rPr sz="1400"/>
              <a:t>Video 3: The Forces that Shape AI Governance（11 分鐘）</a:t>
            </a:r>
          </a:p>
          <a:p>
            <a:pPr/>
            <a:r>
              <a:rPr sz="1600" b="1"/>
              <a:t>閱讀</a:t>
            </a:r>
          </a:p>
          <a:p>
            <a:pPr lvl="1"/>
            <a:r>
              <a:rPr sz="1400"/>
              <a:t>Module 10: Glossary（10 分鐘）</a:t>
            </a:r>
          </a:p>
          <a:p>
            <a:pPr lvl="1"/>
            <a:r>
              <a:rPr sz="1400"/>
              <a:t>Module 10: Reading Materials（10 分鐘）</a:t>
            </a:r>
          </a:p>
          <a:p>
            <a:pPr/>
            <a:r>
              <a:rPr sz="1500" b="1"/>
              <a:t>作業：End-of-Course Graded Quiz（30 分鐘）</a:t>
            </a:r>
          </a:p>
          <a:p>
            <a:pPr/>
            <a:r>
              <a:rPr sz="1200">
                <a:solidFill>
                  <a:srgbClr val="1F6F5C"/>
                </a:solidFill>
              </a:rPr>
              <a:t>課程頁：https://www.coursera.org/learn/global-mooc-on-the-ethics-of-ai/home/module/10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M10 學習重點與詞彙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 b="1">
                <a:solidFill>
                  <a:srgbClr val="1F6F5C"/>
                </a:solidFill>
              </a:rPr>
              <a:t>學習重點（自製筆記，非課程原文）</a:t>
            </a:r>
          </a:p>
          <a:p>
            <a:pPr/>
            <a:r>
              <a:rPr sz="1200"/>
              <a:t>治理格局係拼圖而非單一法規：歐盟以風險分級立法（AI Act）、美國以部門監管＋自願框架（NIST AI RMF）、中國以算法與生成式服務管理規定、國際層面有 UNESCO 2021 年《人工智能倫理問題建議書》（193 個成員國通過，非約束性）。</a:t>
            </a:r>
          </a:p>
          <a:p>
            <a:pPr/>
            <a:r>
              <a:rPr sz="1200"/>
              <a:t>跨境三大難題：管轄權衝突與域外效力、資料跨境流動、以及同一模型在不同市場要符合不同披露要求。</a:t>
            </a:r>
          </a:p>
          <a:p>
            <a:pPr/>
            <a:r>
              <a:rPr sz="1200"/>
              <a:t>Video 2 的 GenAI 助理跨市場案例，核心係「一個產品、多套規則」：語言在地化之外，還要處理內容政策、資料本地化與使用者救濟。</a:t>
            </a:r>
          </a:p>
          <a:p>
            <a:pPr/>
            <a:r>
              <a:rPr sz="1200"/>
              <a:t>Video 3 講塑造治理的力量：地緣政治競爭、產業遊說、公民社會與學術、標準組織（ISO/IEC）、以及重大事件驅動的監管窗口。</a:t>
            </a:r>
          </a:p>
          <a:p>
            <a:pPr/>
            <a:r>
              <a:rPr sz="1200"/>
              <a:t>UNESCO 的 RAM（Readiness Assessment Methodology）用於評估一個國家在制度、能力與問責上的準備程度。</a:t>
            </a:r>
          </a:p>
          <a:p>
            <a:pPr/>
            <a:r>
              <a:rPr sz="1200"/>
              <a:t>實務落地：建立監管地圖（哪個市場、哪些義務、哪個負責人）、把義務轉成工程控制、以及保留可審計證據。</a:t>
            </a:r>
          </a:p>
          <a:p>
            <a:pPr/>
            <a:r>
              <a:rPr sz="1500" b="1">
                <a:solidFill>
                  <a:srgbClr val="1F6F5C"/>
                </a:solidFill>
              </a:rPr>
              <a:t>詞彙</a:t>
            </a:r>
          </a:p>
          <a:p>
            <a:pPr lvl="1"/>
            <a:r>
              <a:rPr sz="1100"/>
              <a:t>UNESCO Recommendation on the Ethics of AI (2021)：193 個成員國通過的國際倫理規範文件，非約束性；課程的價值基礎。</a:t>
            </a:r>
          </a:p>
          <a:p>
            <a:pPr lvl="1"/>
            <a:r>
              <a:rPr sz="1100"/>
              <a:t>Risk-based approach：按風險等級施加不同義務的監管思路（歐盟 AI Act 為代表）。</a:t>
            </a:r>
          </a:p>
          <a:p>
            <a:pPr lvl="1"/>
            <a:r>
              <a:rPr sz="1100"/>
              <a:t>RAM：Readiness Assessment Methodology：UNESCO 用以評估國家 AI 治理準備程度的方法。</a:t>
            </a:r>
          </a:p>
          <a:p>
            <a:pPr lvl="1"/>
            <a:r>
              <a:rPr sz="1100"/>
              <a:t>Soft law：非直接可強制執行的國際規範，靠政策採納與同行壓力生效。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M10 詳細教學（5 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300" i="1"/>
              <a:t>治理格局係拼圖而非單一法規：同一個模型，在不同市場要符合不同義務。</a:t>
            </a:r>
          </a:p>
          <a:p>
            <a:pPr lvl="1"/>
            <a:r>
              <a:rPr sz="1400"/>
              <a:t>10.1 主要法域的取向</a:t>
            </a:r>
          </a:p>
          <a:p>
            <a:pPr lvl="1"/>
            <a:r>
              <a:rPr sz="1400"/>
              <a:t>10.2 UNESCO 2021 建議書與 RAM</a:t>
            </a:r>
          </a:p>
          <a:p>
            <a:pPr lvl="1"/>
            <a:r>
              <a:rPr sz="1400"/>
              <a:t>10.3 跨境三大難題</a:t>
            </a:r>
          </a:p>
          <a:p>
            <a:pPr lvl="1"/>
            <a:r>
              <a:rPr sz="1400"/>
              <a:t>10.4 一個產品、多套規則</a:t>
            </a:r>
          </a:p>
          <a:p>
            <a:pPr lvl="1"/>
            <a:r>
              <a:rPr sz="1400"/>
              <a:t>10.5 監管地圖的落地做法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資料來源與界線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逐字（課程頁原文）：module 標題、影片標題與分鐘數、閱讀／作業標題與時長、課程評分與時長說明。</a:t>
            </a:r>
          </a:p>
          <a:p>
            <a:pPr/>
            <a:r>
              <a:rPr sz="1500"/>
              <a:t>自製（非原文）：學習重點、詞彙解釋、詳細教學五節、自測題與參考答案。</a:t>
            </a:r>
          </a:p>
          <a:p>
            <a:pPr/>
            <a:r>
              <a:rPr sz="1500"/>
              <a:t>未取得：Coursera 影片逐字稿與講師講稿（需登入且受版權限制），所以本簡報唔係課程逐字稿，亦唔代表 UNESCO／LG AI Research／Coursera 立場。</a:t>
            </a:r>
          </a:p>
          <a:p>
            <a:pPr/>
            <a:r>
              <a:rPr sz="1400"/>
              <a:t>影片一律要在 Coursera 觀看：每條影片對應 https://www.coursera.org/learn/global-mooc-on-the-ethics-of-ai/home/module/N</a:t>
            </a:r>
          </a:p>
          <a:p>
            <a:pPr/>
            <a:r>
              <a:rPr sz="1500"/>
              <a:t>官方文件：UNESCO 2021《人工智能倫理問題建議書》（193 個成員國通過，非約束性）。</a:t>
            </a:r>
          </a:p>
          <a:p>
            <a:pPr/>
            <a:r>
              <a:rPr sz="1400" b="1"/>
              <a:t>資料核實日期：2026-10-24。課程頁日後改動，以 Coursera 為準。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